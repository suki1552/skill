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도입 전</c:v>
                </c:pt>
              </c:strCache>
            </c:strRef>
          </c:tx>
          <c:spPr>
            <a:solidFill>
              <a:srgbClr val="E6E7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3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 추가 출동</c:v>
                  </c:pt>
                  <c:pt idx="1">
                    <c:v>변경·취소 건</c:v>
                  </c:pt>
                  <c:pt idx="2">
                    <c:v>상담 처리시간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도입 후</c:v>
                </c:pt>
              </c:strCache>
            </c:strRef>
          </c:tx>
          <c:spPr>
            <a:solidFill>
              <a:srgbClr val="5B4FE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1B3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SM 추가 출동</c:v>
                  </c:pt>
                  <c:pt idx="1">
                    <c:v>변경·취소 건</c:v>
                  </c:pt>
                  <c:pt idx="2">
                    <c:v>상담 처리시간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66</c:v>
                </c:pt>
                <c:pt idx="1">
                  <c:v>79</c:v>
                </c:pt>
                <c:pt idx="2">
                  <c:v>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E1B39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6B728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3D34B0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291840"/>
            <a:ext cx="3840480" cy="3840480"/>
          </a:xfrm>
          <a:prstGeom prst="ellipse">
            <a:avLst/>
          </a:prstGeom>
          <a:solidFill>
            <a:srgbClr val="2E227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출동 최적화 스케줄링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41248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B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출동 스케줄링을 콜봇이 자동으로 완결합니다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891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A2166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PDS 자동발신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43891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A2166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런처 크로스채널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438912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2A2166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DD8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Swing 실시간 연동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943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58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발표 자료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874520" y="1911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배경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87452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스케줄링 비효율과 자동화 필요성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87452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452360" y="191109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솔루션 개요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52360" y="23500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콜봇이란 무엇인가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68680" y="32918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874520" y="33284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기능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874520" y="37673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PDS · 런처 솔루션 · Swing 연동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10896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329184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452360" y="332841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영역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52360" y="376732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개통(CSS) · 장애(OSS)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52628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47091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3400" dirty="0"/>
          </a:p>
        </p:txBody>
      </p:sp>
      <p:sp>
        <p:nvSpPr>
          <p:cNvPr id="22" name="Text 20"/>
          <p:cNvSpPr/>
          <p:nvPr/>
        </p:nvSpPr>
        <p:spPr>
          <a:xfrm>
            <a:off x="1874520" y="47457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흐름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874520" y="51846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발신부터 확정까지의 대화 Flow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526280"/>
            <a:ext cx="53035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46520" y="4709160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AE7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7452360" y="4745736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기대 효과 &amp; 데모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7452360" y="518464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성과 지표와 시연 안내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도입 배경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스케줄링 비효율, 자동화로 해결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일정 조율과 잦은 변경·취소로 출동 효율이 떨어지고 상담 리소스가 과다 투입됩니다.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2286000"/>
            <a:ext cx="731520" cy="731520"/>
          </a:xfrm>
          <a:prstGeom prst="ellipse">
            <a:avLst/>
          </a:prstGeom>
          <a:solidFill>
            <a:srgbClr val="FFE6EA"/>
          </a:solidFill>
          <a:ln/>
        </p:spPr>
      </p:sp>
      <p:sp>
        <p:nvSpPr>
          <p:cNvPr id="7" name="Text 5"/>
          <p:cNvSpPr/>
          <p:nvPr/>
        </p:nvSpPr>
        <p:spPr>
          <a:xfrm>
            <a:off x="15544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⏱️</a:t>
            </a:r>
            <a:endParaRPr lang="en-US" sz="176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수작업 일정 조율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840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전화·문자로 일일이 조율해 상담 리소스 과다 투입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97680" y="2286000"/>
            <a:ext cx="731520" cy="731520"/>
          </a:xfrm>
          <a:prstGeom prst="ellipse">
            <a:avLst/>
          </a:prstGeom>
          <a:solidFill>
            <a:srgbClr val="FFE6EA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</a:t>
            </a:r>
            <a:endParaRPr lang="en-US" sz="1760" dirty="0"/>
          </a:p>
        </p:txBody>
      </p:sp>
      <p:sp>
        <p:nvSpPr>
          <p:cNvPr id="13" name="Text 11"/>
          <p:cNvSpPr/>
          <p:nvPr/>
        </p:nvSpPr>
        <p:spPr>
          <a:xfrm>
            <a:off x="356616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잦은 변경·취소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11880" y="3840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일정 변경·취소로 기사 동선 비효율 발생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26480" y="19659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0" y="2286000"/>
            <a:ext cx="731520" cy="731520"/>
          </a:xfrm>
          <a:prstGeom prst="ellipse">
            <a:avLst/>
          </a:prstGeom>
          <a:solidFill>
            <a:srgbClr val="FFE6E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🚚</a:t>
            </a:r>
            <a:endParaRPr lang="en-US" sz="1760" dirty="0"/>
          </a:p>
        </p:txBody>
      </p:sp>
      <p:sp>
        <p:nvSpPr>
          <p:cNvPr id="18" name="Text 16"/>
          <p:cNvSpPr/>
          <p:nvPr/>
        </p:nvSpPr>
        <p:spPr>
          <a:xfrm>
            <a:off x="630936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불필요한 SM 출동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840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관리 미흡으로 추가 출동·고객 대기 불만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9680" y="1965960"/>
            <a:ext cx="2560320" cy="3566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784080" y="2286000"/>
            <a:ext cx="731520" cy="731520"/>
          </a:xfrm>
          <a:prstGeom prst="ellipse">
            <a:avLst/>
          </a:prstGeom>
          <a:solidFill>
            <a:srgbClr val="FFE6EA"/>
          </a:solidFill>
          <a:ln/>
        </p:spPr>
      </p:sp>
      <p:sp>
        <p:nvSpPr>
          <p:cNvPr id="22" name="Text 20"/>
          <p:cNvSpPr/>
          <p:nvPr/>
        </p:nvSpPr>
        <p:spPr>
          <a:xfrm>
            <a:off x="978408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6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📵</a:t>
            </a:r>
            <a:endParaRPr lang="en-US" sz="1760" dirty="0"/>
          </a:p>
        </p:txBody>
      </p:sp>
      <p:sp>
        <p:nvSpPr>
          <p:cNvPr id="23" name="Text 21"/>
          <p:cNvSpPr/>
          <p:nvPr/>
        </p:nvSpPr>
        <p:spPr>
          <a:xfrm>
            <a:off x="9052560" y="3200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미응답 고객 누락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98280" y="3840480"/>
            <a:ext cx="2103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재접촉 누락으로 예약 전환 기회 손실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40080" y="571500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3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OB 콜봇 자동화로 SM 출동을 최소화하고 고객 만족도를 높입니다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솔루션 개요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콜봇이란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029200" cy="4206240"/>
          </a:xfrm>
          <a:prstGeom prst="roundRect">
            <a:avLst>
              <a:gd name="adj" fmla="val 2609"/>
            </a:avLst>
          </a:prstGeom>
          <a:solidFill>
            <a:srgbClr val="1C1743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고객에게 자동 발신하여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일정의 예약·안내·변경·취소를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대화로 완결하는 아웃바운드 콜봇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CB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통화와 </a:t>
            </a:r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시각</a:t>
            </a:r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CB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팝업을 결합한 크로스 채널로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CFCB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 성공률을 극대화합니다.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029968"/>
            <a:ext cx="658368" cy="658368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10" name="Text 8"/>
          <p:cNvSpPr/>
          <p:nvPr/>
        </p:nvSpPr>
        <p:spPr>
          <a:xfrm>
            <a:off x="6172200" y="202996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1584" dirty="0"/>
          </a:p>
        </p:txBody>
      </p:sp>
      <p:sp>
        <p:nvSpPr>
          <p:cNvPr id="11" name="Text 9"/>
          <p:cNvSpPr/>
          <p:nvPr/>
        </p:nvSpPr>
        <p:spPr>
          <a:xfrm>
            <a:off x="6995160" y="195681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 · 방문일정 예약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995160" y="23591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신규가입·이사·상품변경 고객 대상 일정 예약(달력/제안)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43600" y="315468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3447288"/>
            <a:ext cx="658368" cy="658368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44728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🔔</a:t>
            </a:r>
            <a:endParaRPr lang="en-US" sz="1584" dirty="0"/>
          </a:p>
        </p:txBody>
      </p:sp>
      <p:sp>
        <p:nvSpPr>
          <p:cNvPr id="16" name="Text 14"/>
          <p:cNvSpPr/>
          <p:nvPr/>
        </p:nvSpPr>
        <p:spPr>
          <a:xfrm>
            <a:off x="6995160" y="337413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 · D-1 안내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995160" y="377647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하루 전 일정 안내 및 확정·변경·취소 처리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4572000"/>
            <a:ext cx="557784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4864608"/>
            <a:ext cx="658368" cy="658368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86460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84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🛠️</a:t>
            </a:r>
            <a:endParaRPr lang="en-US" sz="1584" dirty="0"/>
          </a:p>
        </p:txBody>
      </p:sp>
      <p:sp>
        <p:nvSpPr>
          <p:cNvPr id="21" name="Text 19"/>
          <p:cNvSpPr/>
          <p:nvPr/>
        </p:nvSpPr>
        <p:spPr>
          <a:xfrm>
            <a:off x="6995160" y="479145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· D-1 방문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95160" y="519379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CEI 진단으로 방문 필요 판단 후 일정 안내·조정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핵심 기능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3가지 기술이 만드는 자동 완결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발신부터 화면 안내, 시스템 반영까지 끊김 없이 이어지는 스케줄링 자동화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331720"/>
            <a:ext cx="868680" cy="868680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331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9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</a:t>
            </a:r>
            <a:endParaRPr lang="en-US" sz="209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PDS 자동 콜 발신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타겟팅된 고객에게 콜봇이 자동으로 콜을 발신하여 방문 일정을 선제적으로 안내합니다.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2331720"/>
            <a:ext cx="868680" cy="868680"/>
          </a:xfrm>
          <a:prstGeom prst="ellipse">
            <a:avLst/>
          </a:prstGeom>
          <a:solidFill>
            <a:srgbClr val="D7FFF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2331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9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2090" dirty="0"/>
          </a:p>
        </p:txBody>
      </p:sp>
      <p:sp>
        <p:nvSpPr>
          <p:cNvPr id="13" name="Text 11"/>
          <p:cNvSpPr/>
          <p:nvPr/>
        </p:nvSpPr>
        <p:spPr>
          <a:xfrm>
            <a:off x="466344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런처 솔루션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통화와 동시에 스마트폰 화면에 팝업 배너를 띄우는 음성–시각 크로스 채널로 통화 성공률을 높입니다.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46720" y="2011680"/>
            <a:ext cx="3429000" cy="356616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66760" y="2331720"/>
            <a:ext cx="868680" cy="868680"/>
          </a:xfrm>
          <a:prstGeom prst="ellipse">
            <a:avLst/>
          </a:prstGeom>
          <a:solidFill>
            <a:srgbClr val="FFF2D6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233172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9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</a:t>
            </a:r>
            <a:endParaRPr lang="en-US" sz="2090" dirty="0"/>
          </a:p>
        </p:txBody>
      </p:sp>
      <p:sp>
        <p:nvSpPr>
          <p:cNvPr id="18" name="Text 16"/>
          <p:cNvSpPr/>
          <p:nvPr/>
        </p:nvSpPr>
        <p:spPr>
          <a:xfrm>
            <a:off x="836676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Swing 자동 연동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66760" y="397764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예약 확정·변경·취소를 Swing 시스템에 실시간 반영하고 확인 문자를 자동 발송합니다.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서비스 영역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개통과 장애, 두 영역을 모두 커버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0116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EAE7F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11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D34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개통 · CSS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60120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방문일정 예약 &amp; D-1 안내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971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· 신규가입 / 이사 / 상품변경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60120" y="34290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410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방문 일정 예약 (달력·제안 방식)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40233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40050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방문 일정 안내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0120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45994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변경·취소 자동 처리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52120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5193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Swing 반영 &amp; 확인 문자 발송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45352" y="1737360"/>
            <a:ext cx="530352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65392" y="201168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FFE6EA"/>
          </a:solidFill>
          <a:ln/>
        </p:spPr>
      </p:sp>
      <p:sp>
        <p:nvSpPr>
          <p:cNvPr id="23" name="Text 21"/>
          <p:cNvSpPr/>
          <p:nvPr/>
        </p:nvSpPr>
        <p:spPr>
          <a:xfrm>
            <a:off x="6565392" y="20116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832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· OSS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65392" y="25146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 방문 스케줄링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6565392" y="29718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 · AS / 댁내배선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565392" y="342900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8312" y="341071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CEI 원격 진단으로 방문 필요 판단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565392" y="402336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30" name="Text 28"/>
          <p:cNvSpPr/>
          <p:nvPr/>
        </p:nvSpPr>
        <p:spPr>
          <a:xfrm>
            <a:off x="6565392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68312" y="400507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복구 시 방문 불필요 자동 취소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65392" y="461772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33" name="Text 31"/>
          <p:cNvSpPr/>
          <p:nvPr/>
        </p:nvSpPr>
        <p:spPr>
          <a:xfrm>
            <a:off x="6565392" y="4617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68312" y="459943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 방문 일정 안내·변경·취소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565392" y="5212080"/>
            <a:ext cx="365760" cy="365760"/>
          </a:xfrm>
          <a:prstGeom prst="roundRect">
            <a:avLst>
              <a:gd name="adj" fmla="val 25000"/>
            </a:avLst>
          </a:prstGeom>
          <a:solidFill>
            <a:srgbClr val="F6F7FB"/>
          </a:solidFill>
          <a:ln/>
        </p:spPr>
      </p:sp>
      <p:sp>
        <p:nvSpPr>
          <p:cNvPr id="36" name="Text 34"/>
          <p:cNvSpPr/>
          <p:nvPr/>
        </p:nvSpPr>
        <p:spPr>
          <a:xfrm>
            <a:off x="6565392" y="5212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68312" y="5193792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알림 &amp; 확인 문자 발송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동작 흐름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발신에서 확정까지, 한 번의 통화로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런처 팝업과 함께 진행되는 콜봇 대화 흐름 (개통 예약 기준)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239012" y="2633472"/>
            <a:ext cx="768096" cy="768096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7" name="Text 5"/>
          <p:cNvSpPr/>
          <p:nvPr/>
        </p:nvSpPr>
        <p:spPr>
          <a:xfrm>
            <a:off x="1239012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📡</a:t>
            </a:r>
            <a:endParaRPr lang="en-US" sz="1848" dirty="0"/>
          </a:p>
        </p:txBody>
      </p:sp>
      <p:sp>
        <p:nvSpPr>
          <p:cNvPr id="8" name="Text 6"/>
          <p:cNvSpPr/>
          <p:nvPr/>
        </p:nvSpPr>
        <p:spPr>
          <a:xfrm>
            <a:off x="640080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PDS 발신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타겟 고객 자동 콜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587752" y="29260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862072" y="23774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61004" y="2633472"/>
            <a:ext cx="768096" cy="768096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61004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📱</a:t>
            </a:r>
            <a:endParaRPr lang="en-US" sz="1848" dirty="0"/>
          </a:p>
        </p:txBody>
      </p:sp>
      <p:sp>
        <p:nvSpPr>
          <p:cNvPr id="14" name="Text 12"/>
          <p:cNvSpPr/>
          <p:nvPr/>
        </p:nvSpPr>
        <p:spPr>
          <a:xfrm>
            <a:off x="2862072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런처 팝업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62072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배너 노출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09744" y="29260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84064" y="23774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82996" y="2633472"/>
            <a:ext cx="768096" cy="768096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5682996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🔐</a:t>
            </a:r>
            <a:endParaRPr lang="en-US" sz="1848" dirty="0"/>
          </a:p>
        </p:txBody>
      </p:sp>
      <p:sp>
        <p:nvSpPr>
          <p:cNvPr id="20" name="Text 18"/>
          <p:cNvSpPr/>
          <p:nvPr/>
        </p:nvSpPr>
        <p:spPr>
          <a:xfrm>
            <a:off x="5084064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확인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84064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인증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31736" y="29260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7306056" y="23774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904988" y="2633472"/>
            <a:ext cx="768096" cy="768096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25" name="Text 23"/>
          <p:cNvSpPr/>
          <p:nvPr/>
        </p:nvSpPr>
        <p:spPr>
          <a:xfrm>
            <a:off x="7904988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📅</a:t>
            </a:r>
            <a:endParaRPr lang="en-US" sz="1848" dirty="0"/>
          </a:p>
        </p:txBody>
      </p:sp>
      <p:sp>
        <p:nvSpPr>
          <p:cNvPr id="26" name="Text 24"/>
          <p:cNvSpPr/>
          <p:nvPr/>
        </p:nvSpPr>
        <p:spPr>
          <a:xfrm>
            <a:off x="7306056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예약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06056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달력·제안 선택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53728" y="2926080"/>
            <a:ext cx="29260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528048" y="2377440"/>
            <a:ext cx="19659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0126980" y="2633472"/>
            <a:ext cx="768096" cy="768096"/>
          </a:xfrm>
          <a:prstGeom prst="ellipse">
            <a:avLst/>
          </a:prstGeom>
          <a:solidFill>
            <a:srgbClr val="EAE7FF"/>
          </a:solidFill>
          <a:ln/>
        </p:spPr>
      </p:sp>
      <p:sp>
        <p:nvSpPr>
          <p:cNvPr id="31" name="Text 29"/>
          <p:cNvSpPr/>
          <p:nvPr/>
        </p:nvSpPr>
        <p:spPr>
          <a:xfrm>
            <a:off x="10126980" y="2633472"/>
            <a:ext cx="76809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48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</a:t>
            </a:r>
            <a:endParaRPr lang="en-US" sz="1848" dirty="0"/>
          </a:p>
        </p:txBody>
      </p:sp>
      <p:sp>
        <p:nvSpPr>
          <p:cNvPr id="32" name="Text 30"/>
          <p:cNvSpPr/>
          <p:nvPr/>
        </p:nvSpPr>
        <p:spPr>
          <a:xfrm>
            <a:off x="9528048" y="34747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Swing 확정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528048" y="385876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문자 발송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" y="470916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FFF6E6"/>
          </a:solidFill>
          <a:ln w="12700">
            <a:solidFill>
              <a:srgbClr val="FFE1A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FFECC4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1645920" y="489204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A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미응답 처리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6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응답하지 않으면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A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재시도 후 문자 발송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6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자동 대체하며, 장애 건은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A56A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CEI 진단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A6A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방문 필요 여부를 먼저 판단합니다.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기대 효과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자동화가 만드는 운영 성과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B4F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78.6%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콜봇 자동 처리율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7373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2B88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-34%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338328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 추가 출동 감소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052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-21%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12648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일정 변경·취소 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869680" y="173736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6E7F0"/>
            </a:solidFill>
            <a:prstDash val="solid"/>
          </a:ln>
          <a:effectLst>
            <a:outerShdw sx="100000" sy="100000" kx="0" ky="0" algn="bl" rotWithShape="0" blurRad="114300" dist="38100" dir="5400000">
              <a:srgbClr val="8A8FB5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869680" y="1965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24·7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869680" y="2880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무중단 자동 응대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70332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1B3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전 대비 개선 효과 (도입 전 = 100 기준)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4069080"/>
          <a:ext cx="10881360" cy="2148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5"/>
          <p:cNvSpPr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206240"/>
            <a:ext cx="5486400" cy="5486400"/>
          </a:xfrm>
          <a:prstGeom prst="ellipse">
            <a:avLst/>
          </a:prstGeom>
          <a:solidFill>
            <a:srgbClr val="241A5C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731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DEMO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콜봇을 직접 체험해 보세요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41248" y="1828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CB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화면이 하나의 앱으로 연결되어, 콜봇 실행 결과가 운영 대시보드에 실시간 반영됩니다.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6032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241A5C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91640" y="2880360"/>
            <a:ext cx="777240" cy="777240"/>
          </a:xfrm>
          <a:prstGeom prst="ellipse">
            <a:avLst/>
          </a:prstGeom>
          <a:solidFill>
            <a:srgbClr val="2E2270"/>
          </a:solidFill>
          <a:ln/>
        </p:spPr>
      </p:sp>
      <p:sp>
        <p:nvSpPr>
          <p:cNvPr id="8" name="Text 6"/>
          <p:cNvSpPr/>
          <p:nvPr/>
        </p:nvSpPr>
        <p:spPr>
          <a:xfrm>
            <a:off x="1691640" y="2880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📞</a:t>
            </a:r>
            <a:endParaRPr lang="en-US" sz="1870" dirty="0"/>
          </a:p>
        </p:txBody>
      </p:sp>
      <p:sp>
        <p:nvSpPr>
          <p:cNvPr id="9" name="Text 7"/>
          <p:cNvSpPr/>
          <p:nvPr/>
        </p:nvSpPr>
        <p:spPr>
          <a:xfrm>
            <a:off x="96012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콜봇 실행 콘솔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00584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 대상 선택 → 예약·확정 → 저장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520440" y="256032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241A5C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89120" y="2880360"/>
            <a:ext cx="777240" cy="777240"/>
          </a:xfrm>
          <a:prstGeom prst="ellipse">
            <a:avLst/>
          </a:prstGeom>
          <a:solidFill>
            <a:srgbClr val="2E2270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2880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</a:t>
            </a:r>
            <a:endParaRPr lang="en-US" sz="1870" dirty="0"/>
          </a:p>
        </p:txBody>
      </p:sp>
      <p:sp>
        <p:nvSpPr>
          <p:cNvPr id="14" name="Text 12"/>
          <p:cNvSpPr/>
          <p:nvPr/>
        </p:nvSpPr>
        <p:spPr>
          <a:xfrm>
            <a:off x="365760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대시보드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0332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KPI·상태변경·기사배정·CSV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17920" y="256032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241A5C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86600" y="2880360"/>
            <a:ext cx="777240" cy="777240"/>
          </a:xfrm>
          <a:prstGeom prst="ellipse">
            <a:avLst/>
          </a:prstGeom>
          <a:solidFill>
            <a:srgbClr val="2E2270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2880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🔀</a:t>
            </a:r>
            <a:endParaRPr lang="en-US" sz="1870" dirty="0"/>
          </a:p>
        </p:txBody>
      </p:sp>
      <p:sp>
        <p:nvSpPr>
          <p:cNvPr id="19" name="Text 17"/>
          <p:cNvSpPr/>
          <p:nvPr/>
        </p:nvSpPr>
        <p:spPr>
          <a:xfrm>
            <a:off x="635508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Flow 편집기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0080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흐름 편집 · SVG 내보내기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15400" y="2560320"/>
            <a:ext cx="2514600" cy="2468880"/>
          </a:xfrm>
          <a:prstGeom prst="roundRect">
            <a:avLst>
              <a:gd name="adj" fmla="val 4444"/>
            </a:avLst>
          </a:prstGeom>
          <a:solidFill>
            <a:srgbClr val="241A5C"/>
          </a:solidFill>
          <a:ln w="12700">
            <a:solidFill>
              <a:srgbClr val="463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880360"/>
            <a:ext cx="777240" cy="777240"/>
          </a:xfrm>
          <a:prstGeom prst="ellipse">
            <a:avLst/>
          </a:prstGeom>
          <a:solidFill>
            <a:srgbClr val="2E2270"/>
          </a:solidFill>
          <a:ln/>
        </p:spPr>
      </p:sp>
      <p:sp>
        <p:nvSpPr>
          <p:cNvPr id="23" name="Text 21"/>
          <p:cNvSpPr/>
          <p:nvPr/>
        </p:nvSpPr>
        <p:spPr>
          <a:xfrm>
            <a:off x="9784080" y="28803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7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🚀</a:t>
            </a:r>
            <a:endParaRPr lang="en-US" sz="1870" dirty="0"/>
          </a:p>
        </p:txBody>
      </p:sp>
      <p:sp>
        <p:nvSpPr>
          <p:cNvPr id="24" name="Text 22"/>
          <p:cNvSpPr/>
          <p:nvPr/>
        </p:nvSpPr>
        <p:spPr>
          <a:xfrm>
            <a:off x="905256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소개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09828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7B2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배경·효과 · 상담 신청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9A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발신부터 운영 반영까지, 한 번의 통화로 완결됩니다.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6126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80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 콜봇 구축 프로젝트 · 출동 최적화 스케줄링 Agent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2026-08-06T08:33:39Z</dcterms:created>
  <dcterms:modified xsi:type="dcterms:W3CDTF">2026-08-06T08:33:39Z</dcterms:modified>
</cp:coreProperties>
</file>